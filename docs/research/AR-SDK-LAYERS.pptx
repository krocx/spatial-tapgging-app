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 SDK layers" id="{eb96953c-de23-f9c5-7af4-dd941ae7b86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top to bottom. Layer 1 is free and solves device pose; none of the platform SDKs give a precise, continuous pose of a specific object except partly visionOS. Layer 2 is the gap the bake-off fills: Vuforia and GridRaster and the open stack, on a non-sensitive chamber-scale fixture, scored into Hardware Fit and AR SDK. Layer 3 is the Unity client the AR Developer builds; the iPad app already owns its loop. Layer 4 is AR OMS: anchor and map, steps and assembly state, validation and evidence - unchanged whichever registration SDK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-title-only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Title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appliedx · Connected Worker AR OMS · AR SDK landscape · Oct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Where am I, where is the part, where it runs, what stays ours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device tells you where you are. An object-tracking SDK tells you where the part is. Everything below that line is AR OMS, whichever SDK wins.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Layer 1 · platform SDKs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"Where am I, what is the room" · free with the device</a:t>
            </a:r>
            <a:endParaRPr lang="en-US" sz="1400" dirty="0"/>
          </a:p>
        </p:txBody>
      </p:sp>
      <p:sp>
        <p:nvSpPr>
          <p:cNvPr id="5" name="ARKit · iPad"/>
          <p:cNvSpPr/>
          <p:nvPr/>
        </p:nvSpPr>
        <p:spPr>
          <a:xfrm>
            <a:off x="2953512" y="150876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90672" y="150876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ARKit · iPad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pose · LiDAR · QR · world map</a:t>
            </a:r>
            <a:endParaRPr lang="en-US" sz="1400" dirty="0"/>
          </a:p>
        </p:txBody>
      </p:sp>
      <p:sp>
        <p:nvSpPr>
          <p:cNvPr id="7" name="visionOS"/>
          <p:cNvSpPr/>
          <p:nvPr/>
        </p:nvSpPr>
        <p:spPr>
          <a:xfrm>
            <a:off x="5189220" y="150876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26380" y="150876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visionOS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hands · object tracking</a:t>
            </a:r>
            <a:endParaRPr lang="en-US" sz="1400" dirty="0"/>
          </a:p>
        </p:txBody>
      </p:sp>
      <p:sp>
        <p:nvSpPr>
          <p:cNvPr id="9" name="Quest OpenXR"/>
          <p:cNvSpPr/>
          <p:nvPr/>
        </p:nvSpPr>
        <p:spPr>
          <a:xfrm>
            <a:off x="7424928" y="150876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62088" y="150876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Quest OpenXR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pose · hands · camera API</a:t>
            </a:r>
            <a:endParaRPr lang="en-US" sz="1400" dirty="0"/>
          </a:p>
        </p:txBody>
      </p:sp>
      <p:sp>
        <p:nvSpPr>
          <p:cNvPr id="11" name="HoloLens 2 · WebXR"/>
          <p:cNvSpPr/>
          <p:nvPr/>
        </p:nvSpPr>
        <p:spPr>
          <a:xfrm>
            <a:off x="9660636" y="150876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2C2C2E"/>
          </a:solidFill>
          <a:ln w="12700">
            <a:solidFill>
              <a:srgbClr val="2C2C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97796" y="150876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HoloLens 2 · WebXR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pose only · no objects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97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Layer 2 · object-tracking SDKs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"Where is the part" · buy or test · the bake-off (AROMS-363)</a:t>
            </a:r>
            <a:endParaRPr lang="en-US" sz="1400" dirty="0"/>
          </a:p>
        </p:txBody>
      </p:sp>
      <p:sp>
        <p:nvSpPr>
          <p:cNvPr id="14" name="Vuforia"/>
          <p:cNvSpPr/>
          <p:nvPr/>
        </p:nvSpPr>
        <p:spPr>
          <a:xfrm>
            <a:off x="2953512" y="269748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3A3A8C"/>
          </a:solidFill>
          <a:ln w="12700">
            <a:solidFill>
              <a:srgbClr val="3A3A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90672" y="269748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Vuforia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CAD targets · Step Check</a:t>
            </a:r>
            <a:endParaRPr lang="en-US" sz="1400" dirty="0"/>
          </a:p>
        </p:txBody>
      </p:sp>
      <p:sp>
        <p:nvSpPr>
          <p:cNvPr id="16" name="GridRaster"/>
          <p:cNvSpPr/>
          <p:nvPr/>
        </p:nvSpPr>
        <p:spPr>
          <a:xfrm>
            <a:off x="5189220" y="269748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3A3A8C"/>
          </a:solidFill>
          <a:ln w="12700">
            <a:solidFill>
              <a:srgbClr val="3A3A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26380" y="269748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GridRaster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on-device · trained on Hub</a:t>
            </a:r>
            <a:endParaRPr lang="en-US" sz="1400" dirty="0"/>
          </a:p>
        </p:txBody>
      </p:sp>
      <p:sp>
        <p:nvSpPr>
          <p:cNvPr id="18" name="Open stack"/>
          <p:cNvSpPr/>
          <p:nvPr/>
        </p:nvSpPr>
        <p:spPr>
          <a:xfrm>
            <a:off x="7424928" y="269748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3A3A8C"/>
          </a:solidFill>
          <a:ln w="12700">
            <a:solidFill>
              <a:srgbClr val="3A3A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62088" y="269748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Open stack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FoundationPose · OpenCV</a:t>
            </a:r>
            <a:endParaRPr lang="en-US" sz="1400" dirty="0"/>
          </a:p>
        </p:txBody>
      </p:sp>
      <p:sp>
        <p:nvSpPr>
          <p:cNvPr id="20" name="VisionLib · others"/>
          <p:cNvSpPr/>
          <p:nvPr/>
        </p:nvSpPr>
        <p:spPr>
          <a:xfrm>
            <a:off x="9660636" y="269748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3A3A8C"/>
          </a:solidFill>
          <a:ln w="12700">
            <a:solidFill>
              <a:srgbClr val="3A3A8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97796" y="269748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VisionLib · others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failed FY25 on glasses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8862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Layer 3 · engine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"Where we build it"</a:t>
            </a:r>
            <a:endParaRPr lang="en-US" sz="1400" dirty="0"/>
          </a:p>
        </p:txBody>
      </p:sp>
      <p:sp>
        <p:nvSpPr>
          <p:cNvPr id="23" name="Unity + AR Foundation"/>
          <p:cNvSpPr/>
          <p:nvPr/>
        </p:nvSpPr>
        <p:spPr>
          <a:xfrm>
            <a:off x="2953512" y="3886200"/>
            <a:ext cx="4306824" cy="868680"/>
          </a:xfrm>
          <a:prstGeom prst="roundRect">
            <a:avLst>
              <a:gd name="adj" fmla="val 8421"/>
            </a:avLst>
          </a:prstGeom>
          <a:solidFill>
            <a:srgbClr val="1F5F6E"/>
          </a:solidFill>
          <a:ln w="12700">
            <a:solidFill>
              <a:srgbClr val="1F5F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90672" y="3886200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Unity + AR Foundation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FY27 AR Developer client</a:t>
            </a:r>
            <a:endParaRPr lang="en-US" sz="1400" dirty="0"/>
          </a:p>
        </p:txBody>
      </p:sp>
      <p:sp>
        <p:nvSpPr>
          <p:cNvPr id="25" name="SIB iPad app · today"/>
          <p:cNvSpPr/>
          <p:nvPr/>
        </p:nvSpPr>
        <p:spPr>
          <a:xfrm>
            <a:off x="7424928" y="3886200"/>
            <a:ext cx="4306824" cy="868680"/>
          </a:xfrm>
          <a:prstGeom prst="roundRect">
            <a:avLst>
              <a:gd name="adj" fmla="val 8421"/>
            </a:avLst>
          </a:prstGeom>
          <a:solidFill>
            <a:srgbClr val="1F5F6E"/>
          </a:solidFill>
          <a:ln w="12700">
            <a:solidFill>
              <a:srgbClr val="1F5F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62088" y="3886200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SIB iPad app · today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ARKit direct · own perception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074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Layer 4 · what stays ours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Whichever SDK gives the pose, this is the product</a:t>
            </a:r>
            <a:endParaRPr lang="en-US" sz="1400" dirty="0"/>
          </a:p>
        </p:txBody>
      </p:sp>
      <p:sp>
        <p:nvSpPr>
          <p:cNvPr id="28" name="Anchor · map"/>
          <p:cNvSpPr/>
          <p:nvPr/>
        </p:nvSpPr>
        <p:spPr>
          <a:xfrm>
            <a:off x="2953512" y="507492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7A4A0A"/>
          </a:solidFill>
          <a:ln w="12700">
            <a:solidFill>
              <a:srgbClr val="7A4A0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90672" y="507492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Anchor · map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origin of every step</a:t>
            </a:r>
            <a:endParaRPr lang="en-US" sz="1400" dirty="0"/>
          </a:p>
        </p:txBody>
      </p:sp>
      <p:sp>
        <p:nvSpPr>
          <p:cNvPr id="30" name="Steps · assembly"/>
          <p:cNvSpPr/>
          <p:nvPr/>
        </p:nvSpPr>
        <p:spPr>
          <a:xfrm>
            <a:off x="5189220" y="507492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7A4A0A"/>
          </a:solidFill>
          <a:ln w="12700">
            <a:solidFill>
              <a:srgbClr val="7A4A0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26380" y="507492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Steps · assembly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placement · state · parts</a:t>
            </a:r>
            <a:endParaRPr lang="en-US" sz="1400" dirty="0"/>
          </a:p>
        </p:txBody>
      </p:sp>
      <p:sp>
        <p:nvSpPr>
          <p:cNvPr id="32" name="Validation"/>
          <p:cNvSpPr/>
          <p:nvPr/>
        </p:nvSpPr>
        <p:spPr>
          <a:xfrm>
            <a:off x="7424928" y="507492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7A4A0A"/>
          </a:solidFill>
          <a:ln w="12700">
            <a:solidFill>
              <a:srgbClr val="7A4A0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62088" y="507492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cone · readings · labels</a:t>
            </a:r>
            <a:endParaRPr lang="en-US" sz="1400" dirty="0"/>
          </a:p>
        </p:txBody>
      </p:sp>
      <p:sp>
        <p:nvSpPr>
          <p:cNvPr id="34" name="Evidence · logs"/>
          <p:cNvSpPr/>
          <p:nvPr/>
        </p:nvSpPr>
        <p:spPr>
          <a:xfrm>
            <a:off x="9660636" y="5074920"/>
            <a:ext cx="2071116" cy="868680"/>
          </a:xfrm>
          <a:prstGeom prst="roundRect">
            <a:avLst>
              <a:gd name="adj" fmla="val 8421"/>
            </a:avLst>
          </a:prstGeom>
          <a:solidFill>
            <a:srgbClr val="7A4A0A"/>
          </a:solidFill>
          <a:ln w="12700">
            <a:solidFill>
              <a:srgbClr val="7A4A0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97796" y="5074920"/>
            <a:ext cx="17967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Evidence · logs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usage log · Insights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136392" y="2395728"/>
            <a:ext cx="0" cy="283464"/>
          </a:xfrm>
          <a:prstGeom prst="line">
            <a:avLst/>
          </a:prstGeom>
          <a:noFill/>
          <a:ln w="15875">
            <a:solidFill>
              <a:srgbClr val="C7C7CC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3319272" y="2414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none of these track a specific part precisely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36392" y="3584448"/>
            <a:ext cx="0" cy="283464"/>
          </a:xfrm>
          <a:prstGeom prst="line">
            <a:avLst/>
          </a:prstGeom>
          <a:noFill/>
          <a:ln w="15875">
            <a:solidFill>
              <a:srgbClr val="C7C7CC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319272" y="3602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every candidate must hand the pose to our app through an API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136392" y="4773168"/>
            <a:ext cx="0" cy="283464"/>
          </a:xfrm>
          <a:prstGeom prst="line">
            <a:avLst/>
          </a:prstGeom>
          <a:noFill/>
          <a:ln w="15875">
            <a:solidFill>
              <a:srgbClr val="C7C7CC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57200" y="6053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Side box, not on our path: </a:t>
            </a:r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GridRaster’s NDI tracks the tool relative to the part - a second tracked body with its signal fused at that pose. Same shape as a torque tool at the fastener, which is a FY28 question for us.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B charcoal">
  <a:themeElements>
    <a:clrScheme name="SIB charcoal">
      <a:dk1>
        <a:srgbClr val="1C1C1E"/>
      </a:dk1>
      <a:lt1>
        <a:srgbClr val="FFFFFF"/>
      </a:lt1>
      <a:dk2>
        <a:srgbClr val="2C2C2E"/>
      </a:dk2>
      <a:lt2>
        <a:srgbClr val="C7C7CC"/>
      </a:lt2>
      <a:accent1>
        <a:srgbClr val="0A84FF"/>
      </a:accent1>
      <a:accent2>
        <a:srgbClr val="30D158"/>
      </a:accent2>
      <a:accent3>
        <a:srgbClr val="FF9F0A"/>
      </a:accent3>
      <a:accent4>
        <a:srgbClr val="FF453A"/>
      </a:accent4>
      <a:accent5>
        <a:srgbClr val="5E5CE6"/>
      </a:accent5>
      <a:accent6>
        <a:srgbClr val="64D2FF"/>
      </a:accent6>
      <a:hlink>
        <a:srgbClr val="64D2FF"/>
      </a:hlink>
      <a:folHlink>
        <a:srgbClr val="C7C7CC"/>
      </a:folHlink>
    </a:clrScheme>
    <a:fontScheme name="SIB charco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SDK layers for AR OMS</dc:title>
  <dc:subject>PptxGenJS Presentation</dc:subject>
  <dc:creator>Karthik · appliedx AR OMS</dc:creator>
  <cp:lastModifiedBy>Karthik · appliedx AR OMS</cp:lastModifiedBy>
  <cp:revision>1</cp:revision>
  <dcterms:created xsi:type="dcterms:W3CDTF">2026-10-20T23:14:16Z</dcterms:created>
  <dcterms:modified xsi:type="dcterms:W3CDTF">2026-10-20T23:14:16Z</dcterms:modified>
</cp:coreProperties>
</file>