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9584" y="1905000"/>
            <a:ext cx="10972525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APPLIED MATERIALS · CONNECTED WORKER AR OMS INITIATIVE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2286000"/>
            <a:ext cx="10972525" cy="1524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Every technician’s next move,</a:t>
            </a:r>
          </a:p>
          <a:p>
            <a:pPr algn="l"/>
            <a:r>
              <a:rPr sz="3400" b="1">
                <a:solidFill>
                  <a:srgbClr val="22D3EE"/>
                </a:solidFill>
                <a:latin typeface="Calibri"/>
              </a:rPr>
              <a:t>right the first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962399"/>
            <a:ext cx="9905752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Adaptive Guided Work Instructions that live on the tool, adapt to the technician, and validate the work as it happens — so we win on Productivity, Velocity and Customer Trust, and our people are ready for semi- and fully-autonomous cleanrooms.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6741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Productivity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741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Hours per procedure and time-to-competency fall — instruction on the tool, check on the spot, no re-work.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093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04249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4249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 procedure change reaches every chamber of a configuration in minutes, not a training cycle.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601" y="4876800"/>
            <a:ext cx="3352716" cy="10668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61758" y="4968240"/>
            <a:ext cx="3047923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Customer Trust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1758" y="5257800"/>
            <a:ext cx="3078403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Fewer quality issues escape to customer sites — critical steps validated and evidenced before the tool ships.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WHY AR,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91437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facts — and where Applied can be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106680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−40%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6358" y="106680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fewer procedural errors and 32% faster task completion with AR-guided instructions vs. paper or static methods.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PTC industrial AR benchmark 2025 (via OxMaint)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188" y="1996439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~90%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358" y="1996439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improvement in first-time quality with AR instructions in Boeing wing assembly; wiring production time cut 25%.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Iowa State / Boeing — SME Advanced Manufacturing; AR Insider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88" y="292608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−60%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76358" y="292608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training time at Volvo Group; Fujitsu cut operator training from 3–5 days to about an hour.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PTC case studies: Volvo Group; Fujitsu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88" y="385572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67,000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358" y="385572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U.S. semiconductor technician / engineer / CS roles at risk of going unfilled by 2030 — 39% of them technicians.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SIA / Oxford Economics,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" y="4785360"/>
            <a:ext cx="11429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358" y="4785360"/>
            <a:ext cx="4876678" cy="533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>
                <a:solidFill>
                  <a:srgbClr val="CBD5E1"/>
                </a:solidFill>
                <a:latin typeface="Calibri"/>
              </a:rPr>
              <a:t>customers supported by ASML through AR remote assistance on lithography tools — AR is already normal in the fab, as a vendor’s support channel.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optics.org; Microsoft / ASML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0224" y="1066800"/>
            <a:ext cx="4724281" cy="4648200"/>
          </a:xfrm>
          <a:prstGeom prst="roundRect">
            <a:avLst>
              <a:gd name="adj" fmla="val 12000"/>
            </a:avLst>
          </a:prstGeom>
          <a:solidFill>
            <a:srgbClr val="1B2050"/>
          </a:solidFill>
          <a:ln w="19050">
            <a:solidFill>
              <a:srgbClr val="3B3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93100" y="1188720"/>
            <a:ext cx="4343291" cy="259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Where Applied can be ahead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3100" y="152400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Own the backbone, not a vendor’s app.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Anchors, world maps, validation and usage data are Applied’s — deployable on-prem inside the fab network.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3100" y="233172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Validate, don’t just display.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Most AR tools show steps. Ours checks them spatially and records the verdict — never blocking the line, always logging.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00" y="313944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Pluggable intelligence.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Validation runs on our engine today and can call any internal or third-party model via API.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3100" y="394716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platform, many BUs.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OMS, on-the-job training, EHS audits and lockout/tagout share authoring, access control and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3100" y="4754880"/>
            <a:ext cx="434329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Authoring in minutes.</a:t>
            </a:r>
          </a:p>
          <a:p>
            <a:pPr algn="l"/>
            <a:r>
              <a:rPr sz="1050" b="0">
                <a:solidFill>
                  <a:srgbClr val="C7D2FE"/>
                </a:solidFill>
                <a:latin typeface="Calibri"/>
              </a:rPr>
              <a:t>Guides from Excel, JSON or MES exports — or the visual Procedure Designer, with round-trip editing.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Adaptive Guided Work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818CF8"/>
                </a:solidFill>
                <a:latin typeface="Calibri"/>
              </a:rPr>
              <a:t>AR OMS · AR OJT (on-the-job training)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POC-READY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Procedures shown in AR on the actual tool — each step pinned where the work is, with 3D ghosts of the correct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Procedure knowledge lives in people and PDFs. We wanted it to live on the equipment.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Faster ramp — the guide teaches while they work (AR OJT)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Fewer skipped steps; critical ones validated on the spot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Audit-ready record per Production #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Shared kiosk iPads — employee-ID sign-in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Live on cloud and in-house servers. Best first use: a procedure you already have in Excel.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Spatial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AR-guided · own models or third-party via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POC-READY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Confirms hands-on work was done right: the technician stands where the author stood; the platform compares the live view with “correct”, from several angles.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Vision systems validate parts on a line — nothing validated a technician’s work at a tool.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Catch the missing guard before the tool restarts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Objective verdict per step, on record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 failed check can be overridden — and it is logged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Pluggable engine — ours today, any model via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2D3EE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Multi-angle training and guided capture live; scoring tuned with field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GembaWalks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Audit walks · findings · resolution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POC-READY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Audit walks in AR — checkpoints tagged to real locations, findings with photos, every open finding tracked to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Findings in spreadsheets die. Findings tied to a physical location stay honest and repeatable.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Same checkpoints, same order, every walk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Evidence and location on every finding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Ageing open findings visible at a glance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Live end to end. Ready for a team’s first real walk.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Calibri"/>
              </a:rPr>
              <a:t>Spatial Lockout / Tagout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EARLY PROTOTYPE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Lockout/Tagout points on the real equipment in AR — checklists, live lock status, energy-flow map, and a certification quiz gate.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LOTO is the highest-consequence, most paper-bound procedure on the floor. We explored making it visual and verifiable.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Which breaker, which lock, which order — shown in place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EHS gets a live board and a certification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F87171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Early prototype: works end to end; not yet reviewed against EHS / regulatory requirements.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30480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Calibri"/>
              </a:rPr>
              <a:t>THE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48640"/>
            <a:ext cx="8381790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SIB — Spatial Intelligence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914400"/>
            <a:ext cx="6857828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6366F1"/>
                </a:solidFill>
                <a:latin typeface="Calibri"/>
              </a:rPr>
              <a:t>The engine every product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5752" y="609600"/>
            <a:ext cx="1828754" cy="2286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 PRODUCTION 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188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45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QR anchors tie content to equipment, world maps let any iPad re-find it, plus validation, telemetry, access control and usage records — one server, on-prem or cloud.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045" y="1295400"/>
            <a:ext cx="5486262" cy="1676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202" y="13868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WHY WE BUILT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202" y="1615440"/>
            <a:ext cx="5211949" cy="1295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Every AR product needs the same 80%. Built once, each new product is a thin layer — GembaWalks and iLOTO took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3124200"/>
            <a:ext cx="5486262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45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HOW IT HELPS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45" y="3444240"/>
            <a:ext cx="5211949" cy="1905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Data can stay inside the fab network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One user list and role model across products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• Authoring from Excel / JSON / MES or the visual designer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045" y="3124200"/>
            <a:ext cx="5562460" cy="2286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3215640"/>
            <a:ext cx="5181470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Calibri"/>
              </a:rPr>
              <a:t>WHERE IT STANDS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3444240"/>
            <a:ext cx="5288147" cy="121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Calibri"/>
              </a:rPr>
              <a:t>Running continuously; hardened for POCs. Spatial data formats patent-pending.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202" y="4724400"/>
            <a:ext cx="5288147" cy="48768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358" y="4785360"/>
            <a:ext cx="5029074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Reach out to AppliedX — Teams chat or karthik_addagarla@amat.com</a:t>
            </a:r>
          </a:p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Bring one procedure or audit; we can have it in AR in a working session.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188" y="213360"/>
            <a:ext cx="6857828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AR Operations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502920"/>
            <a:ext cx="7619809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One spatial backbone · four products · authoring, content and governance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582" y="24384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v2026.4.45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582" y="42672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900" b="0">
                <a:solidFill>
                  <a:srgbClr val="475569"/>
                </a:solidFill>
                <a:latin typeface="Calibri"/>
              </a:rPr>
              <a:t>Proprietary &amp; Confidential · Applied Materials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188" y="85344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PRODUCTS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188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1A1F4D"/>
          </a:solidFill>
          <a:ln w="254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9105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Adaptive Guided Work 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105" y="1325880"/>
            <a:ext cx="2514537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1">
                <a:solidFill>
                  <a:srgbClr val="A5B4FC"/>
                </a:solidFill>
                <a:latin typeface="Calibri"/>
              </a:rPr>
              <a:t>AR OMS  ·  AR OJT (on-the-job training)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05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Step-by-step AR guides with 3D ghost overlays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Every step can be spatially validated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Evidence, branches, resume &amp; sign-off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Kiosk shift start · Production # usage 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2236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44153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Spatial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4153" y="1325880"/>
            <a:ext cx="2514537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1">
                <a:solidFill>
                  <a:srgbClr val="67E8F9"/>
                </a:solidFill>
                <a:latin typeface="Calibri"/>
              </a:rPr>
              <a:t>AR-guided · own models or 3rd-party via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4153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Author trains in AR from multiple angles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Operator guided to the exact spot; live verdict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Pass / fail states, regions of interest, evidence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Pluggable engine — ours or any model via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5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3A1F0F"/>
          </a:solidFill>
          <a:ln w="254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202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GembaWalks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202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Location-tagged audit walks in AR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Findings, defect categories, resolution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Ghost re-localization at each checkpoint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Walk reports &amp; open-finding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333" y="1051560"/>
            <a:ext cx="2682172" cy="1203960"/>
          </a:xfrm>
          <a:prstGeom prst="roundRect">
            <a:avLst>
              <a:gd name="adj" fmla="val 12000"/>
            </a:avLst>
          </a:prstGeom>
          <a:solidFill>
            <a:srgbClr val="3A0F14"/>
          </a:solidFill>
          <a:ln w="254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74250" y="1112520"/>
            <a:ext cx="2514537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iLOTO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4250" y="1493520"/>
            <a:ext cx="2514537" cy="76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Spatial Lockout / Tagout points &amp; 3D locks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Apply / remove checklists, live lock status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Training quiz gate &amp; certification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CBD5E1"/>
                </a:solidFill>
                <a:latin typeface="Calibri"/>
              </a:rPr>
              <a:t>• AR LOTO energy-flow maps, EHS 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42908" y="1143000"/>
            <a:ext cx="1036294" cy="1524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700" b="1">
                <a:solidFill>
                  <a:srgbClr val="FCA5A5"/>
                </a:solidFill>
                <a:latin typeface="Calibri"/>
              </a:rPr>
              <a:t>EARLY 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88" y="243840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AUTHORING &amp; CONTENT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188" y="2636520"/>
            <a:ext cx="3581310" cy="92964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79105" y="2697480"/>
            <a:ext cx="3352716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Roadmap &amp; Procedure Designer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05" y="2910840"/>
            <a:ext cx="3352716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Visual canvas for roadmaps and procedures · role-typed nodes, branches &amp; recovery paths · compile straight to an AR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105" y="3322320"/>
            <a:ext cx="3352716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93C5FD"/>
                </a:solidFill>
                <a:latin typeface="Calibri"/>
              </a:rPr>
              <a:t>Preview mode · round-trip edit of any guide · pre-flight checks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1374" y="2636520"/>
            <a:ext cx="4160415" cy="929640"/>
          </a:xfrm>
          <a:prstGeom prst="roundRect">
            <a:avLst>
              <a:gd name="adj" fmla="val 12000"/>
            </a:avLst>
          </a:prstGeom>
          <a:solidFill>
            <a:srgbClr val="0F2F2A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43291" y="2697480"/>
            <a:ext cx="393182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Content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291" y="2910840"/>
            <a:ext cx="3931821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Guide Library · 3D Model Library with CAD import (GLB → USDZ) · Guide import from Excel, JSON and MES sources · per-anchor model kits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291" y="3322320"/>
            <a:ext cx="393182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EEAD4"/>
                </a:solidFill>
                <a:latin typeface="Calibri"/>
              </a:rPr>
              <a:t>Share guides per user · publish / draft control · ghost opacity per step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64665" y="2636520"/>
            <a:ext cx="3169840" cy="929640"/>
          </a:xfrm>
          <a:prstGeom prst="roundRect">
            <a:avLst>
              <a:gd name="adj" fmla="val 12000"/>
            </a:avLst>
          </a:prstGeom>
          <a:solidFill>
            <a:srgbClr val="1F1A3D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686582" y="2697480"/>
            <a:ext cx="2941246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Feature Catalogue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582" y="2910840"/>
            <a:ext cx="2941246" cy="39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  <a:latin typeface="Calibri"/>
              </a:rPr>
              <a:t>Docs-as-data map of every capability, with flows, API reference and architecture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582" y="3322320"/>
            <a:ext cx="2941246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4B5FD"/>
                </a:solidFill>
                <a:latin typeface="Calibri"/>
              </a:rPr>
              <a:t>Ask SIB — docs-grounded assistant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188" y="3749039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OPERATE &amp; GOVERN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188" y="3947160"/>
            <a:ext cx="11277318" cy="73152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90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40063" y="4099560"/>
            <a:ext cx="2057348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16262" y="4114800"/>
            <a:ext cx="193543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Web Portal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62" y="4297680"/>
            <a:ext cx="193543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Tile home · every product on one screen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19329" y="4099560"/>
            <a:ext cx="2209744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895527" y="4114800"/>
            <a:ext cx="2087827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Completions &amp; Usage Log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95527" y="4297680"/>
            <a:ext cx="2087827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Step timing, verdicts, evidence · Excel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50991" y="4099560"/>
            <a:ext cx="2209744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227189" y="4114800"/>
            <a:ext cx="2087827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Access &amp; Roles (UAM)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7189" y="4297680"/>
            <a:ext cx="2087827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Owner → Technician · product entitlements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82652" y="4099560"/>
            <a:ext cx="2057348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558851" y="4114800"/>
            <a:ext cx="1935431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Admin &amp; 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8851" y="4297680"/>
            <a:ext cx="1935431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Ops log · backups · site lock-down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61918" y="4099560"/>
            <a:ext cx="1889712" cy="42672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738116" y="4114800"/>
            <a:ext cx="1767795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Kiosk Mode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38116" y="4297680"/>
            <a:ext cx="1767795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Shared iPads · employee ID sign-in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188" y="4876800"/>
            <a:ext cx="11277318" cy="731520"/>
          </a:xfrm>
          <a:prstGeom prst="roundRect">
            <a:avLst>
              <a:gd name="adj" fmla="val 12000"/>
            </a:avLst>
          </a:prstGeom>
          <a:solidFill>
            <a:srgbClr val="27317A"/>
          </a:solidFill>
          <a:ln w="254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0063" y="4937760"/>
            <a:ext cx="4267093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SIB — Spatial Intelligence Backbone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63" y="5166360"/>
            <a:ext cx="4267093" cy="198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C7D2FE"/>
                </a:solidFill>
                <a:latin typeface="Calibri"/>
              </a:rPr>
              <a:t>The shared engine every product runs on · one server, on-prem or cloud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76678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Anchors &amp; QR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76678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World maps &amp; re-localization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7828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Perception engine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7828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Live session stream &amp; AI hints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91375" y="4968240"/>
            <a:ext cx="205734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Encrypted training data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91375" y="5166360"/>
            <a:ext cx="2285942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E0E7FF"/>
                </a:solidFill>
                <a:latin typeface="Calibri"/>
              </a:rPr>
              <a:t>.tag / .sib spatial data formats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188" y="5821680"/>
            <a:ext cx="4571885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HOW WE GOT HERE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188" y="6248400"/>
            <a:ext cx="11277318" cy="0"/>
          </a:xfrm>
          <a:prstGeom prst="line">
            <a:avLst/>
          </a:prstGeom>
          <a:ln w="1905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61038" y="6195059"/>
            <a:ext cx="106677" cy="1066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0495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Spatial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Validation</a:t>
            </a:r>
          </a:p>
        </p:txBody>
      </p:sp>
      <p:sp>
        <p:nvSpPr>
          <p:cNvPr id="66" name="Oval 65"/>
          <p:cNvSpPr/>
          <p:nvPr/>
        </p:nvSpPr>
        <p:spPr>
          <a:xfrm>
            <a:off x="2232604" y="6195059"/>
            <a:ext cx="106677" cy="106680"/>
          </a:xfrm>
          <a:prstGeom prst="ellipse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2060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GembaWalks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(Loc-Tags)</a:t>
            </a:r>
          </a:p>
        </p:txBody>
      </p:sp>
      <p:sp>
        <p:nvSpPr>
          <p:cNvPr id="68" name="Oval 67"/>
          <p:cNvSpPr/>
          <p:nvPr/>
        </p:nvSpPr>
        <p:spPr>
          <a:xfrm>
            <a:off x="3604169" y="6195059"/>
            <a:ext cx="106677" cy="106680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933626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Adaptive Guided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Work Instructions</a:t>
            </a:r>
          </a:p>
        </p:txBody>
      </p:sp>
      <p:sp>
        <p:nvSpPr>
          <p:cNvPr id="70" name="Oval 69"/>
          <p:cNvSpPr/>
          <p:nvPr/>
        </p:nvSpPr>
        <p:spPr>
          <a:xfrm>
            <a:off x="4975735" y="6195059"/>
            <a:ext cx="106677" cy="1066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05192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3D Models &amp;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CAD import</a:t>
            </a:r>
          </a:p>
        </p:txBody>
      </p:sp>
      <p:sp>
        <p:nvSpPr>
          <p:cNvPr id="72" name="Oval 71"/>
          <p:cNvSpPr/>
          <p:nvPr/>
        </p:nvSpPr>
        <p:spPr>
          <a:xfrm>
            <a:off x="6347301" y="6195059"/>
            <a:ext cx="106677" cy="10668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76758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Roadmap &amp;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Procedure Designer</a:t>
            </a:r>
          </a:p>
        </p:txBody>
      </p:sp>
      <p:sp>
        <p:nvSpPr>
          <p:cNvPr id="74" name="Oval 73"/>
          <p:cNvSpPr/>
          <p:nvPr/>
        </p:nvSpPr>
        <p:spPr>
          <a:xfrm>
            <a:off x="7718867" y="6195059"/>
            <a:ext cx="106677" cy="106680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48323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iLOTO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&amp; certification</a:t>
            </a:r>
          </a:p>
        </p:txBody>
      </p:sp>
      <p:sp>
        <p:nvSpPr>
          <p:cNvPr id="76" name="Oval 75"/>
          <p:cNvSpPr/>
          <p:nvPr/>
        </p:nvSpPr>
        <p:spPr>
          <a:xfrm>
            <a:off x="9090432" y="6195059"/>
            <a:ext cx="106677" cy="1066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19889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Feature Catalogue,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.tag, lock-down · Aug ’26</a:t>
            </a:r>
          </a:p>
        </p:txBody>
      </p:sp>
      <p:sp>
        <p:nvSpPr>
          <p:cNvPr id="78" name="Oval 77"/>
          <p:cNvSpPr/>
          <p:nvPr/>
        </p:nvSpPr>
        <p:spPr>
          <a:xfrm>
            <a:off x="10614394" y="6195059"/>
            <a:ext cx="106677" cy="10668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851" y="6339840"/>
            <a:ext cx="1447763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UAM, Kiosk, Usage Log,</a:t>
            </a:r>
          </a:p>
          <a:p>
            <a:pPr algn="ctr"/>
            <a:r>
              <a:rPr sz="850" b="0">
                <a:solidFill>
                  <a:srgbClr val="CBD5E1"/>
                </a:solidFill>
                <a:latin typeface="Calibri"/>
              </a:rPr>
              <a:t>validated work steps · Sep ’26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7828" y="6675120"/>
            <a:ext cx="4876678" cy="152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475569"/>
                </a:solidFill>
                <a:latin typeface="Calibri"/>
              </a:rPr>
              <a:t>Native iOS (ARKit) app + SIB server + web portal · Render (cloud) or on-prem Windows service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9584" y="2133600"/>
            <a:ext cx="10972525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818CF8"/>
                </a:solidFill>
                <a:latin typeface="Calibri"/>
              </a:rPr>
              <a:t>REACH OUT TO US TO LEARN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2514600"/>
            <a:ext cx="10972525" cy="609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Bring one procedure. We’ll put it in AR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3276600"/>
            <a:ext cx="9143771" cy="304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AppliedX · AR Operations Platform · Applied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3581400"/>
            <a:ext cx="9143771" cy="381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22D3EE"/>
                </a:solidFill>
                <a:latin typeface="Calibri"/>
              </a:rPr>
              <a:t>Teams chat  ·  karthik_addagarla@amat.com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4267200"/>
            <a:ext cx="9143771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Send a BU use case: product of interest · equipment / area · the problem you want solved.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88" y="6614160"/>
            <a:ext cx="6857828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Calibri"/>
              </a:rPr>
              <a:t>Proprietary &amp; Confidential · Applied Materials · AR Operations Platform · v2026.4.45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582" y="6614160"/>
            <a:ext cx="3047923" cy="167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Calibri"/>
              </a:rPr>
              <a:t>karthik_addagarla@amat.com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