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09584" y="1905000"/>
            <a:ext cx="10972525" cy="304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818CF8"/>
                </a:solidFill>
                <a:latin typeface="Calibri"/>
              </a:rPr>
              <a:t>APPLIED MATERIALS · CONNECTED WORKER AR OMS INITIATIVE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2286000"/>
            <a:ext cx="10972525" cy="1524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Every technician’s next move,</a:t>
            </a:r>
          </a:p>
          <a:p>
            <a:pPr algn="l"/>
            <a:r>
              <a:rPr sz="3400" b="1">
                <a:solidFill>
                  <a:srgbClr val="22D3EE"/>
                </a:solidFill>
                <a:latin typeface="Calibri"/>
              </a:rPr>
              <a:t>right the first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3962399"/>
            <a:ext cx="990575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Adaptive Guided Work Instructions that live on the tool, adapt to the technician, and validate the work as it happens.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584" y="4876800"/>
            <a:ext cx="3352716" cy="10668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46741" y="4968240"/>
            <a:ext cx="3047923" cy="259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Productivity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741" y="5257800"/>
            <a:ext cx="3078403" cy="609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Instruction on the tool, check on the spot, no re-work.
Measured: TTC · SLH · re-work per run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093" y="4876800"/>
            <a:ext cx="3352716" cy="10668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404249" y="4968240"/>
            <a:ext cx="3047923" cy="259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Velocity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4249" y="5257800"/>
            <a:ext cx="3078403" cy="609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A procedure change reaches every chamber in minutes.
Measured: CT · reduced downtime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24601" y="4876800"/>
            <a:ext cx="3352716" cy="10668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61758" y="4968240"/>
            <a:ext cx="3047923" cy="259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Customer Trust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1758" y="5257800"/>
            <a:ext cx="3078403" cy="609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Fewer quality issues escape to customer sites.
Measured: Field NCs · Y7, Y8 · Q-reports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88" y="6614160"/>
            <a:ext cx="6857828" cy="167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Calibri"/>
              </a:rPr>
              <a:t>Proprietary &amp; Confidential · Applied Materials · AR Operations Platform · v2026.4.45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582" y="6614160"/>
            <a:ext cx="3047923" cy="167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Calibri"/>
              </a:rPr>
              <a:t>karthik_addagarla@amat.com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188" y="304800"/>
            <a:ext cx="6857828" cy="304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818CF8"/>
                </a:solidFill>
                <a:latin typeface="Calibri"/>
              </a:rPr>
              <a:t>WHY AR, 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188" y="548640"/>
            <a:ext cx="9143771" cy="381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facts — and where Applied can be ahead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188" y="1066800"/>
            <a:ext cx="1142971" cy="381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−40%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76358" y="1066800"/>
            <a:ext cx="4876678" cy="533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CBD5E1"/>
                </a:solidFill>
                <a:latin typeface="Calibri"/>
              </a:rPr>
              <a:t>fewer procedural errors and 32% faster task completion with AR-guided instructions vs. paper or static methods.</a:t>
            </a:r>
          </a:p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PTC industrial AR benchmark 2025 (via OxMaint)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188" y="1996439"/>
            <a:ext cx="1142971" cy="381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~90%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76358" y="1996439"/>
            <a:ext cx="4876678" cy="533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CBD5E1"/>
                </a:solidFill>
                <a:latin typeface="Calibri"/>
              </a:rPr>
              <a:t>improvement in first-time quality with AR instructions in Boeing wing assembly; wiring production time cut 25%.</a:t>
            </a:r>
          </a:p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Iowa State / Boeing — SME Advanced Manufacturing; AR Insider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188" y="2926080"/>
            <a:ext cx="1142971" cy="381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−60%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76358" y="2926080"/>
            <a:ext cx="4876678" cy="533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CBD5E1"/>
                </a:solidFill>
                <a:latin typeface="Calibri"/>
              </a:rPr>
              <a:t>training time at Volvo Group; Fujitsu cut operator training from 3–5 days to about an hour.</a:t>
            </a:r>
          </a:p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PTC case studies: Volvo Group; Fujitsu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88" y="3855720"/>
            <a:ext cx="1142971" cy="381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67,000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76358" y="3855720"/>
            <a:ext cx="4876678" cy="533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CBD5E1"/>
                </a:solidFill>
                <a:latin typeface="Calibri"/>
              </a:rPr>
              <a:t>U.S. semiconductor technician / engineer / CS roles at risk of going unfilled by 2030 — 39% of them technicians.</a:t>
            </a:r>
          </a:p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SIA / Oxford Economics, 2023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88" y="4785360"/>
            <a:ext cx="1142971" cy="381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60+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76358" y="4785360"/>
            <a:ext cx="4876678" cy="533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CBD5E1"/>
                </a:solidFill>
                <a:latin typeface="Calibri"/>
              </a:rPr>
              <a:t>customers supported by ASML through AR remote assistance on lithography tools — AR is already normal in the fab, as a vendor’s support channel.</a:t>
            </a:r>
          </a:p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optics.org; Microsoft / ASML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10224" y="1066800"/>
            <a:ext cx="4724281" cy="4648200"/>
          </a:xfrm>
          <a:prstGeom prst="roundRect">
            <a:avLst>
              <a:gd name="adj" fmla="val 12000"/>
            </a:avLst>
          </a:prstGeom>
          <a:solidFill>
            <a:srgbClr val="1B2050"/>
          </a:solidFill>
          <a:ln w="19050">
            <a:solidFill>
              <a:srgbClr val="3B3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193100" y="1188720"/>
            <a:ext cx="4343291" cy="259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Where Applied can be ahead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93100" y="1524000"/>
            <a:ext cx="4343291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Own the backbone, not a vendor’s app.</a:t>
            </a:r>
          </a:p>
          <a:p>
            <a:pPr algn="l"/>
            <a:r>
              <a:rPr sz="1050" b="0">
                <a:solidFill>
                  <a:srgbClr val="C7D2FE"/>
                </a:solidFill>
                <a:latin typeface="Calibri"/>
              </a:rPr>
              <a:t>Anchors, world maps, validation and usage data are Applied’s — deployable on-prem inside the fab network.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93100" y="2331720"/>
            <a:ext cx="4343291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Validate, don’t just display.</a:t>
            </a:r>
          </a:p>
          <a:p>
            <a:pPr algn="l"/>
            <a:r>
              <a:rPr sz="1050" b="0">
                <a:solidFill>
                  <a:srgbClr val="C7D2FE"/>
                </a:solidFill>
                <a:latin typeface="Calibri"/>
              </a:rPr>
              <a:t>Most AR tools show steps. Ours checks them spatially and records the verdict — never blocking the line, always logging.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3100" y="3139440"/>
            <a:ext cx="4343291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Pluggable intelligence.</a:t>
            </a:r>
          </a:p>
          <a:p>
            <a:pPr algn="l"/>
            <a:r>
              <a:rPr sz="1050" b="0">
                <a:solidFill>
                  <a:srgbClr val="C7D2FE"/>
                </a:solidFill>
                <a:latin typeface="Calibri"/>
              </a:rPr>
              <a:t>Validation runs on our engine today and can call any internal or third-party model via API.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93100" y="3947160"/>
            <a:ext cx="4343291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One platform, many BUs.</a:t>
            </a:r>
          </a:p>
          <a:p>
            <a:pPr algn="l"/>
            <a:r>
              <a:rPr sz="1050" b="0">
                <a:solidFill>
                  <a:srgbClr val="C7D2FE"/>
                </a:solidFill>
                <a:latin typeface="Calibri"/>
              </a:rPr>
              <a:t>OMS, on-the-job training, EHS audits and lockout/tagout share authoring, access control and reporting.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93100" y="4754880"/>
            <a:ext cx="4343291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Authoring in minutes.</a:t>
            </a:r>
          </a:p>
          <a:p>
            <a:pPr algn="l"/>
            <a:r>
              <a:rPr sz="1050" b="0">
                <a:solidFill>
                  <a:srgbClr val="C7D2FE"/>
                </a:solidFill>
                <a:latin typeface="Calibri"/>
              </a:rPr>
              <a:t>Guides from Excel, JSON or MES exports — or the visual Procedure Designer, with round-trip editing.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88" y="6614160"/>
            <a:ext cx="6857828" cy="167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Calibri"/>
              </a:rPr>
              <a:t>Proprietary &amp; Confidential · Applied Materials · AR Operations Platform · v2026.4.45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582" y="6614160"/>
            <a:ext cx="3047923" cy="167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Calibri"/>
              </a:rPr>
              <a:t>karthik_addagarla@amat.com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188" y="304800"/>
            <a:ext cx="6857828" cy="304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818CF8"/>
                </a:solidFill>
                <a:latin typeface="Calibri"/>
              </a:rPr>
              <a:t>THE 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188" y="548640"/>
            <a:ext cx="8381790" cy="381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Adaptive Guided Work Instructions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188" y="914400"/>
            <a:ext cx="6857828" cy="198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818CF8"/>
                </a:solidFill>
                <a:latin typeface="Calibri"/>
              </a:rPr>
              <a:t>AR OMS · AR OJT (on-the-job training)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05752" y="609600"/>
            <a:ext cx="1828754" cy="2286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POC-READY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188" y="1295400"/>
            <a:ext cx="5486262" cy="16764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94345" y="1386840"/>
            <a:ext cx="5181470" cy="198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818CF8"/>
                </a:solidFill>
                <a:latin typeface="Calibri"/>
              </a:rPr>
              <a:t>WHAT 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45" y="1615440"/>
            <a:ext cx="5211949" cy="1295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Calibri"/>
              </a:rPr>
              <a:t>Procedures shown in AR on the actual tool — each step pinned where the work is, with 3D ghosts of the correct result.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045" y="1295400"/>
            <a:ext cx="5486262" cy="16764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309202" y="1386840"/>
            <a:ext cx="5181470" cy="198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818CF8"/>
                </a:solidFill>
                <a:latin typeface="Calibri"/>
              </a:rPr>
              <a:t>WHY WE BUILT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202" y="1615440"/>
            <a:ext cx="5211949" cy="1295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Calibri"/>
              </a:rPr>
              <a:t>Procedure knowledge lives in people and PDFs. We wanted it to live on the equipment.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188" y="3124200"/>
            <a:ext cx="5486262" cy="22860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94345" y="3215640"/>
            <a:ext cx="5181470" cy="198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818CF8"/>
                </a:solidFill>
                <a:latin typeface="Calibri"/>
              </a:rPr>
              <a:t>HOW IT HELPS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45" y="3444240"/>
            <a:ext cx="5211949" cy="1905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• Faster ramp — the guide teaches while they work (AR OJT)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• Fewer skipped steps; critical ones validated on the spot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• Audit-ready record per Production #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• Shared kiosk iPads — employee-ID sign-in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045" y="3124200"/>
            <a:ext cx="5562460" cy="22860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09202" y="3215640"/>
            <a:ext cx="5181470" cy="198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818CF8"/>
                </a:solidFill>
                <a:latin typeface="Calibri"/>
              </a:rPr>
              <a:t>WHERE IT STANDS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202" y="3444240"/>
            <a:ext cx="5288147" cy="1219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Calibri"/>
              </a:rPr>
              <a:t>Live on cloud and in-house servers. Best first use: a procedure you already have in Excel.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202" y="4724400"/>
            <a:ext cx="5288147" cy="487680"/>
          </a:xfrm>
          <a:prstGeom prst="roundRect">
            <a:avLst>
              <a:gd name="adj" fmla="val 12000"/>
            </a:avLst>
          </a:prstGeom>
          <a:solidFill>
            <a:srgbClr val="312E81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46358" y="4785360"/>
            <a:ext cx="5029074" cy="381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Reach out to AppliedX — Teams chat or karthik_addagarla@amat.com</a:t>
            </a:r>
          </a:p>
          <a:p>
            <a:pPr algn="l"/>
            <a:r>
              <a:rPr sz="950" b="0">
                <a:solidFill>
                  <a:srgbClr val="C7D2FE"/>
                </a:solidFill>
                <a:latin typeface="Calibri"/>
              </a:rPr>
              <a:t>Bring one procedure or audit; we can have it in AR in a working session.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188" y="6614160"/>
            <a:ext cx="6857828" cy="167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Calibri"/>
              </a:rPr>
              <a:t>Proprietary &amp; Confidential · Applied Materials · AR Operations Platform · v2026.4.45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582" y="6614160"/>
            <a:ext cx="3047923" cy="167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Calibri"/>
              </a:rPr>
              <a:t>karthik_addagarla@amat.com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188" y="304800"/>
            <a:ext cx="6857828" cy="304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Calibri"/>
              </a:rPr>
              <a:t>THE 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188" y="548640"/>
            <a:ext cx="8381790" cy="381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Spatial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188" y="914400"/>
            <a:ext cx="6857828" cy="198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AR-guided · own models or third-party via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05752" y="609600"/>
            <a:ext cx="1828754" cy="2286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POC-READY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188" y="1295400"/>
            <a:ext cx="5486262" cy="16764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94345" y="1386840"/>
            <a:ext cx="5181470" cy="198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Calibri"/>
              </a:rPr>
              <a:t>WHAT 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45" y="1615440"/>
            <a:ext cx="5211949" cy="1295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Calibri"/>
              </a:rPr>
              <a:t>Confirms hands-on work was done right: the technician stands where the author stood; the platform compares the live view with “correct”, from several angles.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045" y="1295400"/>
            <a:ext cx="5486262" cy="16764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309202" y="1386840"/>
            <a:ext cx="5181470" cy="198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Calibri"/>
              </a:rPr>
              <a:t>WHY WE BUILT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202" y="1615440"/>
            <a:ext cx="5211949" cy="1295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Calibri"/>
              </a:rPr>
              <a:t>Vision systems validate parts on a line — nothing validated a technician’s work at a tool.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188" y="3124200"/>
            <a:ext cx="5486262" cy="22860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94345" y="3215640"/>
            <a:ext cx="5181470" cy="198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Calibri"/>
              </a:rPr>
              <a:t>HOW IT HELPS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45" y="3444240"/>
            <a:ext cx="5211949" cy="1905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• Catch the missing guard before the tool restarts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• Objective verdict per step, on record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• A failed check can be overridden — and it is logged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• Pluggable engine — ours today, any model via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045" y="3124200"/>
            <a:ext cx="5562460" cy="22860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09202" y="3215640"/>
            <a:ext cx="5181470" cy="198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Calibri"/>
              </a:rPr>
              <a:t>WHERE IT STANDS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202" y="3444240"/>
            <a:ext cx="5288147" cy="1219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Calibri"/>
              </a:rPr>
              <a:t>Multi-angle training and guided capture live; scoring tuned with field tests.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202" y="4724400"/>
            <a:ext cx="5288147" cy="487680"/>
          </a:xfrm>
          <a:prstGeom prst="roundRect">
            <a:avLst>
              <a:gd name="adj" fmla="val 12000"/>
            </a:avLst>
          </a:prstGeom>
          <a:solidFill>
            <a:srgbClr val="312E81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46358" y="4785360"/>
            <a:ext cx="5029074" cy="381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Reach out to AppliedX — Teams chat or karthik_addagarla@amat.com</a:t>
            </a:r>
          </a:p>
          <a:p>
            <a:pPr algn="l"/>
            <a:r>
              <a:rPr sz="950" b="0">
                <a:solidFill>
                  <a:srgbClr val="C7D2FE"/>
                </a:solidFill>
                <a:latin typeface="Calibri"/>
              </a:rPr>
              <a:t>Bring one procedure or audit; we can have it in AR in a working session.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188" y="6614160"/>
            <a:ext cx="6857828" cy="167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Calibri"/>
              </a:rPr>
              <a:t>Proprietary &amp; Confidential · Applied Materials · AR Operations Platform · v2026.4.45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582" y="6614160"/>
            <a:ext cx="3047923" cy="167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Calibri"/>
              </a:rPr>
              <a:t>karthik_addagarla@amat.com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188" y="304800"/>
            <a:ext cx="6857828" cy="304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FB923C"/>
                </a:solidFill>
                <a:latin typeface="Calibri"/>
              </a:rPr>
              <a:t>THE 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188" y="548640"/>
            <a:ext cx="8381790" cy="381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GembaWalks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188" y="914400"/>
            <a:ext cx="6857828" cy="198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FB923C"/>
                </a:solidFill>
                <a:latin typeface="Calibri"/>
              </a:rPr>
              <a:t>Audit walks · findings · resolution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05752" y="609600"/>
            <a:ext cx="1828754" cy="2286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POC-READY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188" y="1295400"/>
            <a:ext cx="5486262" cy="16764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94345" y="1386840"/>
            <a:ext cx="5181470" cy="198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FB923C"/>
                </a:solidFill>
                <a:latin typeface="Calibri"/>
              </a:rPr>
              <a:t>WHAT 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45" y="1615440"/>
            <a:ext cx="5211949" cy="1295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Calibri"/>
              </a:rPr>
              <a:t>Audit walks in AR — checkpoints tagged to real locations, findings with photos, every open finding tracked to resolution.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045" y="1295400"/>
            <a:ext cx="5486262" cy="16764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309202" y="1386840"/>
            <a:ext cx="5181470" cy="198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FB923C"/>
                </a:solidFill>
                <a:latin typeface="Calibri"/>
              </a:rPr>
              <a:t>WHY WE BUILT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202" y="1615440"/>
            <a:ext cx="5211949" cy="1295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Calibri"/>
              </a:rPr>
              <a:t>Findings in spreadsheets die. Findings tied to a physical location stay honest and repeatable.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188" y="3124200"/>
            <a:ext cx="5486262" cy="22860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94345" y="3215640"/>
            <a:ext cx="5181470" cy="198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FB923C"/>
                </a:solidFill>
                <a:latin typeface="Calibri"/>
              </a:rPr>
              <a:t>HOW IT HELPS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45" y="3444240"/>
            <a:ext cx="5211949" cy="1905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• Same checkpoints, same order, every walk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• Evidence and location on every finding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• Ageing open findings visible at a glance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045" y="3124200"/>
            <a:ext cx="5562460" cy="22860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09202" y="3215640"/>
            <a:ext cx="5181470" cy="198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FB923C"/>
                </a:solidFill>
                <a:latin typeface="Calibri"/>
              </a:rPr>
              <a:t>WHERE IT STANDS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202" y="3444240"/>
            <a:ext cx="5288147" cy="1219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Calibri"/>
              </a:rPr>
              <a:t>Live end to end. Ready for a team’s first real walk.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202" y="4724400"/>
            <a:ext cx="5288147" cy="487680"/>
          </a:xfrm>
          <a:prstGeom prst="roundRect">
            <a:avLst>
              <a:gd name="adj" fmla="val 12000"/>
            </a:avLst>
          </a:prstGeom>
          <a:solidFill>
            <a:srgbClr val="312E81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46358" y="4785360"/>
            <a:ext cx="5029074" cy="381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Reach out to AppliedX — Teams chat or karthik_addagarla@amat.com</a:t>
            </a:r>
          </a:p>
          <a:p>
            <a:pPr algn="l"/>
            <a:r>
              <a:rPr sz="950" b="0">
                <a:solidFill>
                  <a:srgbClr val="C7D2FE"/>
                </a:solidFill>
                <a:latin typeface="Calibri"/>
              </a:rPr>
              <a:t>Bring one procedure or audit; we can have it in AR in a working session.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188" y="6614160"/>
            <a:ext cx="6857828" cy="167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Calibri"/>
              </a:rPr>
              <a:t>Proprietary &amp; Confidential · Applied Materials · AR Operations Platform · v2026.4.45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582" y="6614160"/>
            <a:ext cx="3047923" cy="167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Calibri"/>
              </a:rPr>
              <a:t>karthik_addagarla@amat.com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188" y="304800"/>
            <a:ext cx="6857828" cy="304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F87171"/>
                </a:solidFill>
                <a:latin typeface="Calibri"/>
              </a:rPr>
              <a:t>THE 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188" y="548640"/>
            <a:ext cx="8381790" cy="381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iLOTO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188" y="914400"/>
            <a:ext cx="6857828" cy="198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F87171"/>
                </a:solidFill>
                <a:latin typeface="Calibri"/>
              </a:rPr>
              <a:t>Spatial Lockout / Tagout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05752" y="609600"/>
            <a:ext cx="1828754" cy="2286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EARLY PROTOTYPE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188" y="1295400"/>
            <a:ext cx="5486262" cy="16764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94345" y="1386840"/>
            <a:ext cx="5181470" cy="198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F87171"/>
                </a:solidFill>
                <a:latin typeface="Calibri"/>
              </a:rPr>
              <a:t>WHAT 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45" y="1615440"/>
            <a:ext cx="5211949" cy="1295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Calibri"/>
              </a:rPr>
              <a:t>Lockout/Tagout points on the real equipment in AR — checklists, live lock status, energy-flow map, and a certification quiz gate.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045" y="1295400"/>
            <a:ext cx="5486262" cy="16764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309202" y="1386840"/>
            <a:ext cx="5181470" cy="198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F87171"/>
                </a:solidFill>
                <a:latin typeface="Calibri"/>
              </a:rPr>
              <a:t>WHY WE BUILT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202" y="1615440"/>
            <a:ext cx="5211949" cy="1295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Calibri"/>
              </a:rPr>
              <a:t>LOTO is the highest-consequence, most paper-bound procedure on the floor. We explored making it visual and verifiable.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188" y="3124200"/>
            <a:ext cx="5486262" cy="22860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94345" y="3215640"/>
            <a:ext cx="5181470" cy="198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F87171"/>
                </a:solidFill>
                <a:latin typeface="Calibri"/>
              </a:rPr>
              <a:t>HOW IT HELPS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45" y="3444240"/>
            <a:ext cx="5211949" cy="1905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• Which breaker, which lock, which order — shown in place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• EHS gets a live board and a certification gate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045" y="3124200"/>
            <a:ext cx="5562460" cy="22860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09202" y="3215640"/>
            <a:ext cx="5181470" cy="198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F87171"/>
                </a:solidFill>
                <a:latin typeface="Calibri"/>
              </a:rPr>
              <a:t>WHERE IT STANDS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202" y="3444240"/>
            <a:ext cx="5288147" cy="1219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Calibri"/>
              </a:rPr>
              <a:t>Early prototype: works end to end; not yet reviewed against EHS / regulatory requirements.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202" y="4724400"/>
            <a:ext cx="5288147" cy="487680"/>
          </a:xfrm>
          <a:prstGeom prst="roundRect">
            <a:avLst>
              <a:gd name="adj" fmla="val 12000"/>
            </a:avLst>
          </a:prstGeom>
          <a:solidFill>
            <a:srgbClr val="312E81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46358" y="4785360"/>
            <a:ext cx="5029074" cy="381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Reach out to AppliedX — Teams chat or karthik_addagarla@amat.com</a:t>
            </a:r>
          </a:p>
          <a:p>
            <a:pPr algn="l"/>
            <a:r>
              <a:rPr sz="950" b="0">
                <a:solidFill>
                  <a:srgbClr val="C7D2FE"/>
                </a:solidFill>
                <a:latin typeface="Calibri"/>
              </a:rPr>
              <a:t>Bring one procedure or audit; we can have it in AR in a working session.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188" y="6614160"/>
            <a:ext cx="6857828" cy="167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Calibri"/>
              </a:rPr>
              <a:t>Proprietary &amp; Confidential · Applied Materials · AR Operations Platform · v2026.4.45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582" y="6614160"/>
            <a:ext cx="3047923" cy="167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Calibri"/>
              </a:rPr>
              <a:t>karthik_addagarla@amat.com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188" y="304800"/>
            <a:ext cx="6857828" cy="304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Calibri"/>
              </a:rPr>
              <a:t>THE 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188" y="548640"/>
            <a:ext cx="8381790" cy="381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SIB — Spatial Intelligence Backbone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188" y="914400"/>
            <a:ext cx="6857828" cy="198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  <a:latin typeface="Calibri"/>
              </a:rPr>
              <a:t>The engine every product runs 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05752" y="609600"/>
            <a:ext cx="1828754" cy="2286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 PRODUCTION 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188" y="1295400"/>
            <a:ext cx="5486262" cy="16764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94345" y="1386840"/>
            <a:ext cx="5181470" cy="198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Calibri"/>
              </a:rPr>
              <a:t>WHAT 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45" y="1615440"/>
            <a:ext cx="5211949" cy="1295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Calibri"/>
              </a:rPr>
              <a:t>QR anchors tie content to equipment, world maps let any iPad re-find it, plus validation, telemetry, access control and usage records — one server, on-prem or cloud.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045" y="1295400"/>
            <a:ext cx="5486262" cy="16764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309202" y="1386840"/>
            <a:ext cx="5181470" cy="198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Calibri"/>
              </a:rPr>
              <a:t>WHY WE BUILT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202" y="1615440"/>
            <a:ext cx="5211949" cy="1295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Calibri"/>
              </a:rPr>
              <a:t>Every AR product needs the same 80%. Built once, each new product is a thin layer — GembaWalks and iLOTO took weeks.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188" y="3124200"/>
            <a:ext cx="5486262" cy="22860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94345" y="3215640"/>
            <a:ext cx="5181470" cy="198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Calibri"/>
              </a:rPr>
              <a:t>HOW IT HELPS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45" y="3444240"/>
            <a:ext cx="5211949" cy="1905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• Data can stay inside the fab network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• One user list and role model across products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• Authoring from Excel / JSON / MES or the visual designer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045" y="3124200"/>
            <a:ext cx="5562460" cy="22860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09202" y="3215640"/>
            <a:ext cx="5181470" cy="198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Calibri"/>
              </a:rPr>
              <a:t>WHERE IT STANDS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202" y="3444240"/>
            <a:ext cx="5288147" cy="1219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Calibri"/>
              </a:rPr>
              <a:t>Running continuously; hardened for POCs. Spatial data formats patent-pending.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202" y="4724400"/>
            <a:ext cx="5288147" cy="487680"/>
          </a:xfrm>
          <a:prstGeom prst="roundRect">
            <a:avLst>
              <a:gd name="adj" fmla="val 12000"/>
            </a:avLst>
          </a:prstGeom>
          <a:solidFill>
            <a:srgbClr val="312E81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46358" y="4785360"/>
            <a:ext cx="5029074" cy="381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Reach out to AppliedX — Teams chat or karthik_addagarla@amat.com</a:t>
            </a:r>
          </a:p>
          <a:p>
            <a:pPr algn="l"/>
            <a:r>
              <a:rPr sz="950" b="0">
                <a:solidFill>
                  <a:srgbClr val="C7D2FE"/>
                </a:solidFill>
                <a:latin typeface="Calibri"/>
              </a:rPr>
              <a:t>Bring one procedure or audit; we can have it in AR in a working session.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188" y="6614160"/>
            <a:ext cx="6857828" cy="167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Calibri"/>
              </a:rPr>
              <a:t>Proprietary &amp; Confidential · Applied Materials · AR Operations Platform · v2026.4.45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582" y="6614160"/>
            <a:ext cx="3047923" cy="167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Calibri"/>
              </a:rPr>
              <a:t>karthik_addagarla@amat.com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188" y="213360"/>
            <a:ext cx="6857828" cy="304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AR Operations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188" y="502920"/>
            <a:ext cx="8381790" cy="198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Connected Worker · AR OMS  ·  one spatial backbone · four products · authoring, content and governance built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582" y="243840"/>
            <a:ext cx="3047923" cy="167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v2026.4.45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582" y="426720"/>
            <a:ext cx="3047923" cy="167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Calibri"/>
              </a:rPr>
              <a:t>Proprietary &amp; Confidential · Applied Materials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188" y="853440"/>
            <a:ext cx="4571885" cy="167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Calibri"/>
              </a:rPr>
              <a:t>PRODUCTS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188" y="1051560"/>
            <a:ext cx="2682172" cy="1203960"/>
          </a:xfrm>
          <a:prstGeom prst="roundRect">
            <a:avLst>
              <a:gd name="adj" fmla="val 12000"/>
            </a:avLst>
          </a:prstGeom>
          <a:solidFill>
            <a:srgbClr val="1A1F4D"/>
          </a:solidFill>
          <a:ln w="254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79105" y="1082040"/>
            <a:ext cx="2514537" cy="396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Adaptive Guided</a:t>
            </a:r>
          </a:p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Work Instructions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9105" y="1493520"/>
            <a:ext cx="2514537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1">
                <a:solidFill>
                  <a:srgbClr val="A5B4FC"/>
                </a:solidFill>
                <a:latin typeface="Calibri"/>
              </a:rPr>
              <a:t>Connected Worker AR OMS  ·  AR OJT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105" y="1630680"/>
            <a:ext cx="2514537" cy="609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CBD5E1"/>
                </a:solidFill>
                <a:latin typeface="Calibri"/>
              </a:rPr>
              <a:t>• Step-by-step AR guides with 3D ghost overlays</a:t>
            </a:r>
          </a:p>
          <a:p>
            <a:pPr algn="l"/>
            <a:r>
              <a:rPr sz="850" b="0">
                <a:solidFill>
                  <a:srgbClr val="CBD5E1"/>
                </a:solidFill>
                <a:latin typeface="Calibri"/>
              </a:rPr>
              <a:t>• Every step can be spatially validated</a:t>
            </a:r>
          </a:p>
          <a:p>
            <a:pPr algn="l"/>
            <a:r>
              <a:rPr sz="850" b="0">
                <a:solidFill>
                  <a:srgbClr val="CBD5E1"/>
                </a:solidFill>
                <a:latin typeface="Calibri"/>
              </a:rPr>
              <a:t>• Evidence, branches, resume &amp; sign-off</a:t>
            </a:r>
          </a:p>
          <a:p>
            <a:pPr algn="l"/>
            <a:r>
              <a:rPr sz="850" b="0">
                <a:solidFill>
                  <a:srgbClr val="CBD5E1"/>
                </a:solidFill>
                <a:latin typeface="Calibri"/>
              </a:rPr>
              <a:t>• Kiosk shift start · Production # usage log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22236" y="1051560"/>
            <a:ext cx="2682172" cy="1203960"/>
          </a:xfrm>
          <a:prstGeom prst="roundRect">
            <a:avLst>
              <a:gd name="adj" fmla="val 12000"/>
            </a:avLst>
          </a:prstGeom>
          <a:solidFill>
            <a:srgbClr val="0F2A4A"/>
          </a:solidFill>
          <a:ln w="254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444153" y="1112520"/>
            <a:ext cx="2514537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Spatial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4153" y="1325880"/>
            <a:ext cx="2514537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1">
                <a:solidFill>
                  <a:srgbClr val="67E8F9"/>
                </a:solidFill>
                <a:latin typeface="Calibri"/>
              </a:rPr>
              <a:t>AR-guided · own models or 3rd-party via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4153" y="1493520"/>
            <a:ext cx="2514537" cy="609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CBD5E1"/>
                </a:solidFill>
                <a:latin typeface="Calibri"/>
              </a:rPr>
              <a:t>• Author trains in AR from multiple angles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CBD5E1"/>
                </a:solidFill>
                <a:latin typeface="Calibri"/>
              </a:rPr>
              <a:t>• Operator guided to the exact spot; live verdict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CBD5E1"/>
                </a:solidFill>
                <a:latin typeface="Calibri"/>
              </a:rPr>
              <a:t>• Pass / fail states, regions of interest, evidence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CBD5E1"/>
                </a:solidFill>
                <a:latin typeface="Calibri"/>
              </a:rPr>
              <a:t>• Pluggable engine — ours or any model via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7285" y="1051560"/>
            <a:ext cx="2682172" cy="1203960"/>
          </a:xfrm>
          <a:prstGeom prst="roundRect">
            <a:avLst>
              <a:gd name="adj" fmla="val 12000"/>
            </a:avLst>
          </a:prstGeom>
          <a:solidFill>
            <a:srgbClr val="3A1F0F"/>
          </a:solidFill>
          <a:ln w="2540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09202" y="1112520"/>
            <a:ext cx="2514537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GembaWalks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202" y="1493520"/>
            <a:ext cx="2514537" cy="609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CBD5E1"/>
                </a:solidFill>
                <a:latin typeface="Calibri"/>
              </a:rPr>
              <a:t>• Location-tagged audit walks in AR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CBD5E1"/>
                </a:solidFill>
                <a:latin typeface="Calibri"/>
              </a:rPr>
              <a:t>• Findings, defect categories, resolution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CBD5E1"/>
                </a:solidFill>
                <a:latin typeface="Calibri"/>
              </a:rPr>
              <a:t>• Ghost re-localization at each checkpoint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CBD5E1"/>
                </a:solidFill>
                <a:latin typeface="Calibri"/>
              </a:rPr>
              <a:t>• Walk reports &amp; open-finding tracking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333" y="1051560"/>
            <a:ext cx="2682172" cy="1203960"/>
          </a:xfrm>
          <a:prstGeom prst="roundRect">
            <a:avLst>
              <a:gd name="adj" fmla="val 12000"/>
            </a:avLst>
          </a:prstGeom>
          <a:solidFill>
            <a:srgbClr val="3A0F14"/>
          </a:solidFill>
          <a:ln w="254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74250" y="1112520"/>
            <a:ext cx="2514537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iLOTO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4250" y="1493520"/>
            <a:ext cx="2514537" cy="609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CBD5E1"/>
                </a:solidFill>
                <a:latin typeface="Calibri"/>
              </a:rPr>
              <a:t>• Spatial Lockout / Tagout points &amp; 3D locks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CBD5E1"/>
                </a:solidFill>
                <a:latin typeface="Calibri"/>
              </a:rPr>
              <a:t>• Apply / remove checklists, live lock status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CBD5E1"/>
                </a:solidFill>
                <a:latin typeface="Calibri"/>
              </a:rPr>
              <a:t>• Training quiz gate &amp; certification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CBD5E1"/>
                </a:solidFill>
                <a:latin typeface="Calibri"/>
              </a:rPr>
              <a:t>• AR LOTO energy-flow maps, EHS board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42908" y="1143000"/>
            <a:ext cx="1036294" cy="1524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700" b="1">
                <a:solidFill>
                  <a:srgbClr val="FCA5A5"/>
                </a:solidFill>
                <a:latin typeface="Calibri"/>
              </a:rPr>
              <a:t>EARLY PROTOTYPE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88" y="2438400"/>
            <a:ext cx="4571885" cy="167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Calibri"/>
              </a:rPr>
              <a:t>AUTHORING &amp; CONTENT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188" y="2636520"/>
            <a:ext cx="3581310" cy="929640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79105" y="2697480"/>
            <a:ext cx="3352716" cy="198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Roadmap &amp; Procedure Designer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9105" y="2910840"/>
            <a:ext cx="3352716" cy="396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  <a:latin typeface="Calibri"/>
              </a:rPr>
              <a:t>Visual canvas for roadmaps and procedures · role-typed nodes, branches &amp; recovery paths · compile straight to an AR guide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9105" y="3322320"/>
            <a:ext cx="3352716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>
                <a:solidFill>
                  <a:srgbClr val="93C5FD"/>
                </a:solidFill>
                <a:latin typeface="Calibri"/>
              </a:rPr>
              <a:t>Preview mode · round-trip edit of any guide · pre-flight checks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21374" y="2636520"/>
            <a:ext cx="4160415" cy="929640"/>
          </a:xfrm>
          <a:prstGeom prst="roundRect">
            <a:avLst>
              <a:gd name="adj" fmla="val 12000"/>
            </a:avLst>
          </a:prstGeom>
          <a:solidFill>
            <a:srgbClr val="0F2F2A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343291" y="2697480"/>
            <a:ext cx="3931821" cy="198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Content Library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291" y="2910840"/>
            <a:ext cx="3931821" cy="396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  <a:latin typeface="Calibri"/>
              </a:rPr>
              <a:t>Guide Library · 3D Model Library with CAD import (GLB → USDZ) · Guide import from Excel, JSON and MES sources · per-anchor model kits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291" y="3322320"/>
            <a:ext cx="3931821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>
                <a:solidFill>
                  <a:srgbClr val="5EEAD4"/>
                </a:solidFill>
                <a:latin typeface="Calibri"/>
              </a:rPr>
              <a:t>Share guides per user · publish / draft control · ghost opacity per step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64665" y="2636520"/>
            <a:ext cx="3169840" cy="929640"/>
          </a:xfrm>
          <a:prstGeom prst="roundRect">
            <a:avLst>
              <a:gd name="adj" fmla="val 12000"/>
            </a:avLst>
          </a:prstGeom>
          <a:solidFill>
            <a:srgbClr val="1F1A3D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686582" y="2697480"/>
            <a:ext cx="2941246" cy="198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Feature Catalogue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582" y="2910840"/>
            <a:ext cx="2941246" cy="396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  <a:latin typeface="Calibri"/>
              </a:rPr>
              <a:t>Docs-as-data map of every capability, with flows, API reference and architecture views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582" y="3322320"/>
            <a:ext cx="2941246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>
                <a:solidFill>
                  <a:srgbClr val="C4B5FD"/>
                </a:solidFill>
                <a:latin typeface="Calibri"/>
              </a:rPr>
              <a:t>Ask SIB — docs-grounded assistant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188" y="3749039"/>
            <a:ext cx="4571885" cy="167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Calibri"/>
              </a:rPr>
              <a:t>OPERATE &amp; GOVERN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188" y="3947160"/>
            <a:ext cx="11277318" cy="731520"/>
          </a:xfrm>
          <a:prstGeom prst="roundRect">
            <a:avLst>
              <a:gd name="adj" fmla="val 12000"/>
            </a:avLst>
          </a:prstGeom>
          <a:solidFill>
            <a:srgbClr val="111A33"/>
          </a:solidFill>
          <a:ln w="190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640063" y="4099560"/>
            <a:ext cx="2057348" cy="426720"/>
          </a:xfrm>
          <a:prstGeom prst="roundRect">
            <a:avLst>
              <a:gd name="adj" fmla="val 1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16262" y="4114800"/>
            <a:ext cx="1935431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Web Portal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6262" y="4297680"/>
            <a:ext cx="1935431" cy="198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Tile home · every product on one screen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819329" y="4099560"/>
            <a:ext cx="2209744" cy="426720"/>
          </a:xfrm>
          <a:prstGeom prst="roundRect">
            <a:avLst>
              <a:gd name="adj" fmla="val 1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2895527" y="4114800"/>
            <a:ext cx="2087827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Completions &amp; Usage Log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95527" y="4297680"/>
            <a:ext cx="2087827" cy="198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Step timing, verdicts, evidence · Excel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50991" y="4099560"/>
            <a:ext cx="2209744" cy="426720"/>
          </a:xfrm>
          <a:prstGeom prst="roundRect">
            <a:avLst>
              <a:gd name="adj" fmla="val 1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227189" y="4114800"/>
            <a:ext cx="2087827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Access &amp; Roles (UAM)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27189" y="4297680"/>
            <a:ext cx="2087827" cy="198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Owner → Technician · product entitlements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82652" y="4099560"/>
            <a:ext cx="2057348" cy="426720"/>
          </a:xfrm>
          <a:prstGeom prst="roundRect">
            <a:avLst>
              <a:gd name="adj" fmla="val 1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558851" y="4114800"/>
            <a:ext cx="1935431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Admin &amp; Ops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8851" y="4297680"/>
            <a:ext cx="1935431" cy="198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Ops log · backups · site lock-down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61918" y="4099560"/>
            <a:ext cx="1889712" cy="426720"/>
          </a:xfrm>
          <a:prstGeom prst="roundRect">
            <a:avLst>
              <a:gd name="adj" fmla="val 1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9738116" y="4114800"/>
            <a:ext cx="1767795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Kiosk Mode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38116" y="4297680"/>
            <a:ext cx="1767795" cy="198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Shared iPads · employee ID sign-in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188" y="4876800"/>
            <a:ext cx="11277318" cy="731520"/>
          </a:xfrm>
          <a:prstGeom prst="roundRect">
            <a:avLst>
              <a:gd name="adj" fmla="val 12000"/>
            </a:avLst>
          </a:prstGeom>
          <a:solidFill>
            <a:srgbClr val="27317A"/>
          </a:solidFill>
          <a:ln w="254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40063" y="4937760"/>
            <a:ext cx="4267093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SIB — Spatial Intelligence Backbone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63" y="5166360"/>
            <a:ext cx="4267093" cy="198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>
                <a:solidFill>
                  <a:srgbClr val="C7D2FE"/>
                </a:solidFill>
                <a:latin typeface="Calibri"/>
              </a:rPr>
              <a:t>The shared engine every product runs on · one server, on-prem or cloud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76678" y="4968240"/>
            <a:ext cx="205734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>
                <a:solidFill>
                  <a:srgbClr val="E0E7FF"/>
                </a:solidFill>
                <a:latin typeface="Calibri"/>
              </a:rPr>
              <a:t>Anchors &amp; QR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76678" y="5166360"/>
            <a:ext cx="2285942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>
                <a:solidFill>
                  <a:srgbClr val="E0E7FF"/>
                </a:solidFill>
                <a:latin typeface="Calibri"/>
              </a:rPr>
              <a:t>World maps &amp; re-localization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7828" y="4968240"/>
            <a:ext cx="205734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>
                <a:solidFill>
                  <a:srgbClr val="E0E7FF"/>
                </a:solidFill>
                <a:latin typeface="Calibri"/>
              </a:rPr>
              <a:t>Perception engine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7828" y="5166360"/>
            <a:ext cx="2285942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>
                <a:solidFill>
                  <a:srgbClr val="E0E7FF"/>
                </a:solidFill>
                <a:latin typeface="Calibri"/>
              </a:rPr>
              <a:t>Live session stream &amp; AI hints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91375" y="4968240"/>
            <a:ext cx="205734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>
                <a:solidFill>
                  <a:srgbClr val="E0E7FF"/>
                </a:solidFill>
                <a:latin typeface="Calibri"/>
              </a:rPr>
              <a:t>Encrypted training data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91375" y="5166360"/>
            <a:ext cx="2285942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1">
                <a:solidFill>
                  <a:srgbClr val="E0E7FF"/>
                </a:solidFill>
                <a:latin typeface="Calibri"/>
              </a:rPr>
              <a:t>.tag / .sib spatial data formats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188" y="5821680"/>
            <a:ext cx="4571885" cy="167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Calibri"/>
              </a:rPr>
              <a:t>HOW WE GOT HERE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457188" y="6248400"/>
            <a:ext cx="11277318" cy="0"/>
          </a:xfrm>
          <a:prstGeom prst="line">
            <a:avLst/>
          </a:prstGeom>
          <a:ln w="190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861038" y="6195059"/>
            <a:ext cx="106677" cy="10668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90495" y="6339840"/>
            <a:ext cx="1447763" cy="304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850" b="0">
                <a:solidFill>
                  <a:srgbClr val="CBD5E1"/>
                </a:solidFill>
                <a:latin typeface="Calibri"/>
              </a:rPr>
              <a:t>Spatial</a:t>
            </a:r>
          </a:p>
          <a:p>
            <a:pPr algn="ctr"/>
            <a:r>
              <a:rPr sz="850" b="0">
                <a:solidFill>
                  <a:srgbClr val="CBD5E1"/>
                </a:solidFill>
                <a:latin typeface="Calibri"/>
              </a:rPr>
              <a:t>Validation</a:t>
            </a:r>
          </a:p>
        </p:txBody>
      </p:sp>
      <p:sp>
        <p:nvSpPr>
          <p:cNvPr id="66" name="Oval 65"/>
          <p:cNvSpPr/>
          <p:nvPr/>
        </p:nvSpPr>
        <p:spPr>
          <a:xfrm>
            <a:off x="2232604" y="6195059"/>
            <a:ext cx="106677" cy="106680"/>
          </a:xfrm>
          <a:prstGeom prst="ellipse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562060" y="6339840"/>
            <a:ext cx="1447763" cy="304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850" b="0">
                <a:solidFill>
                  <a:srgbClr val="CBD5E1"/>
                </a:solidFill>
                <a:latin typeface="Calibri"/>
              </a:rPr>
              <a:t>GembaWalks</a:t>
            </a:r>
          </a:p>
          <a:p>
            <a:pPr algn="ctr"/>
            <a:r>
              <a:rPr sz="850" b="0">
                <a:solidFill>
                  <a:srgbClr val="CBD5E1"/>
                </a:solidFill>
                <a:latin typeface="Calibri"/>
              </a:rPr>
              <a:t>(Loc-Tags)</a:t>
            </a:r>
          </a:p>
        </p:txBody>
      </p:sp>
      <p:sp>
        <p:nvSpPr>
          <p:cNvPr id="68" name="Oval 67"/>
          <p:cNvSpPr/>
          <p:nvPr/>
        </p:nvSpPr>
        <p:spPr>
          <a:xfrm>
            <a:off x="3604169" y="6195059"/>
            <a:ext cx="106677" cy="106680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933626" y="6339840"/>
            <a:ext cx="1447763" cy="304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850" b="0">
                <a:solidFill>
                  <a:srgbClr val="CBD5E1"/>
                </a:solidFill>
                <a:latin typeface="Calibri"/>
              </a:rPr>
              <a:t>Adaptive Guided</a:t>
            </a:r>
          </a:p>
          <a:p>
            <a:pPr algn="ctr"/>
            <a:r>
              <a:rPr sz="850" b="0">
                <a:solidFill>
                  <a:srgbClr val="CBD5E1"/>
                </a:solidFill>
                <a:latin typeface="Calibri"/>
              </a:rPr>
              <a:t>Work Instructions</a:t>
            </a:r>
          </a:p>
        </p:txBody>
      </p:sp>
      <p:sp>
        <p:nvSpPr>
          <p:cNvPr id="70" name="Oval 69"/>
          <p:cNvSpPr/>
          <p:nvPr/>
        </p:nvSpPr>
        <p:spPr>
          <a:xfrm>
            <a:off x="4975735" y="6195059"/>
            <a:ext cx="106677" cy="10668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305192" y="6339840"/>
            <a:ext cx="1447763" cy="304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850" b="0">
                <a:solidFill>
                  <a:srgbClr val="CBD5E1"/>
                </a:solidFill>
                <a:latin typeface="Calibri"/>
              </a:rPr>
              <a:t>3D Models &amp;</a:t>
            </a:r>
          </a:p>
          <a:p>
            <a:pPr algn="ctr"/>
            <a:r>
              <a:rPr sz="850" b="0">
                <a:solidFill>
                  <a:srgbClr val="CBD5E1"/>
                </a:solidFill>
                <a:latin typeface="Calibri"/>
              </a:rPr>
              <a:t>CAD import</a:t>
            </a:r>
          </a:p>
        </p:txBody>
      </p:sp>
      <p:sp>
        <p:nvSpPr>
          <p:cNvPr id="72" name="Oval 71"/>
          <p:cNvSpPr/>
          <p:nvPr/>
        </p:nvSpPr>
        <p:spPr>
          <a:xfrm>
            <a:off x="6347301" y="6195059"/>
            <a:ext cx="106677" cy="10668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676758" y="6339840"/>
            <a:ext cx="1447763" cy="304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850" b="0">
                <a:solidFill>
                  <a:srgbClr val="CBD5E1"/>
                </a:solidFill>
                <a:latin typeface="Calibri"/>
              </a:rPr>
              <a:t>Roadmap &amp;</a:t>
            </a:r>
          </a:p>
          <a:p>
            <a:pPr algn="ctr"/>
            <a:r>
              <a:rPr sz="850" b="0">
                <a:solidFill>
                  <a:srgbClr val="CBD5E1"/>
                </a:solidFill>
                <a:latin typeface="Calibri"/>
              </a:rPr>
              <a:t>Procedure Designer</a:t>
            </a:r>
          </a:p>
        </p:txBody>
      </p:sp>
      <p:sp>
        <p:nvSpPr>
          <p:cNvPr id="74" name="Oval 73"/>
          <p:cNvSpPr/>
          <p:nvPr/>
        </p:nvSpPr>
        <p:spPr>
          <a:xfrm>
            <a:off x="7718867" y="6195059"/>
            <a:ext cx="106677" cy="106680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048323" y="6339840"/>
            <a:ext cx="1447763" cy="304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850" b="0">
                <a:solidFill>
                  <a:srgbClr val="CBD5E1"/>
                </a:solidFill>
                <a:latin typeface="Calibri"/>
              </a:rPr>
              <a:t>iLOTO</a:t>
            </a:r>
          </a:p>
          <a:p>
            <a:pPr algn="ctr"/>
            <a:r>
              <a:rPr sz="850" b="0">
                <a:solidFill>
                  <a:srgbClr val="CBD5E1"/>
                </a:solidFill>
                <a:latin typeface="Calibri"/>
              </a:rPr>
              <a:t>&amp; certification</a:t>
            </a:r>
          </a:p>
        </p:txBody>
      </p:sp>
      <p:sp>
        <p:nvSpPr>
          <p:cNvPr id="76" name="Oval 75"/>
          <p:cNvSpPr/>
          <p:nvPr/>
        </p:nvSpPr>
        <p:spPr>
          <a:xfrm>
            <a:off x="9090432" y="6195059"/>
            <a:ext cx="106677" cy="10668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419889" y="6339840"/>
            <a:ext cx="1447763" cy="304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850" b="0">
                <a:solidFill>
                  <a:srgbClr val="CBD5E1"/>
                </a:solidFill>
                <a:latin typeface="Calibri"/>
              </a:rPr>
              <a:t>Feature Catalogue,</a:t>
            </a:r>
          </a:p>
          <a:p>
            <a:pPr algn="ctr"/>
            <a:r>
              <a:rPr sz="850" b="0">
                <a:solidFill>
                  <a:srgbClr val="CBD5E1"/>
                </a:solidFill>
                <a:latin typeface="Calibri"/>
              </a:rPr>
              <a:t>.tag, lock-down · Aug ’26</a:t>
            </a:r>
          </a:p>
        </p:txBody>
      </p:sp>
      <p:sp>
        <p:nvSpPr>
          <p:cNvPr id="78" name="Oval 77"/>
          <p:cNvSpPr/>
          <p:nvPr/>
        </p:nvSpPr>
        <p:spPr>
          <a:xfrm>
            <a:off x="10614394" y="6195059"/>
            <a:ext cx="106677" cy="10668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943851" y="6339840"/>
            <a:ext cx="1447763" cy="304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850" b="0">
                <a:solidFill>
                  <a:srgbClr val="CBD5E1"/>
                </a:solidFill>
                <a:latin typeface="Calibri"/>
              </a:rPr>
              <a:t>UAM, Kiosk, Usage Log,</a:t>
            </a:r>
          </a:p>
          <a:p>
            <a:pPr algn="ctr"/>
            <a:r>
              <a:rPr sz="850" b="0">
                <a:solidFill>
                  <a:srgbClr val="CBD5E1"/>
                </a:solidFill>
                <a:latin typeface="Calibri"/>
              </a:rPr>
              <a:t>validated work steps · Sep ’26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57828" y="6675120"/>
            <a:ext cx="4876678" cy="152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Calibri"/>
              </a:rPr>
              <a:t>Native iOS (ARKit) app + SIB server + web portal · Render (cloud) or on-prem Windows service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09584" y="2133600"/>
            <a:ext cx="10972525" cy="304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818CF8"/>
                </a:solidFill>
                <a:latin typeface="Calibri"/>
              </a:rPr>
              <a:t>REACH OUT TO US TO LEARN 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2514600"/>
            <a:ext cx="10972525" cy="609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Bring one procedure. We’ll put it in AR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3276600"/>
            <a:ext cx="9143771" cy="304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AppliedX · AR Operations Platform · Applied Materials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" y="3581400"/>
            <a:ext cx="9143771" cy="381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000" b="1">
                <a:solidFill>
                  <a:srgbClr val="22D3EE"/>
                </a:solidFill>
                <a:latin typeface="Calibri"/>
              </a:rPr>
              <a:t>Teams chat  ·  karthik_addagarla@amat.com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" y="4267200"/>
            <a:ext cx="9143771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Send a BU use case: product of interest · equipment / area · the problem you want solved.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188" y="6614160"/>
            <a:ext cx="6857828" cy="167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Calibri"/>
              </a:rPr>
              <a:t>Proprietary &amp; Confidential · Applied Materials · AR Operations Platform · v2026.4.45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582" y="6614160"/>
            <a:ext cx="3047923" cy="167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Calibri"/>
              </a:rPr>
              <a:t>karthik_addagarla@amat.com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